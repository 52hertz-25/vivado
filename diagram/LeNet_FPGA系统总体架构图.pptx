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F4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0157" autoAdjust="0"/>
    <p:restoredTop sz="94660"/>
  </p:normalViewPr>
  <p:slideViewPr>
    <p:cSldViewPr snapToGrid="0" snapToObjects="1">
      <p:cViewPr>
        <p:scale>
          <a:sx n="80" d="100"/>
          <a:sy n="80" d="100"/>
        </p:scale>
        <p:origin x="1149" y="2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4592" y="73152"/>
            <a:ext cx="11868912" cy="6675120"/>
          </a:xfrm>
          <a:prstGeom prst="rect">
            <a:avLst/>
          </a:prstGeom>
          <a:solidFill>
            <a:srgbClr val="FFFFFF"/>
          </a:solidFill>
          <a:ln w="8890">
            <a:solidFill>
              <a:srgbClr val="AFA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" name="TextBox 1"/>
          <p:cNvSpPr txBox="1"/>
          <p:nvPr/>
        </p:nvSpPr>
        <p:spPr>
          <a:xfrm>
            <a:off x="731520" y="101162"/>
            <a:ext cx="10698480" cy="51090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2300" b="1">
                <a:solidFill>
                  <a:srgbClr val="141414"/>
                </a:solidFill>
                <a:latin typeface="Microsoft YaHei"/>
              </a:defRPr>
            </a:pPr>
            <a:r>
              <a:rPr sz="3200"/>
              <a:t>LeNet CNN FPGA 推理加速系统总体架构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537064"/>
            <a:ext cx="9601200" cy="18774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900" b="0">
                <a:solidFill>
                  <a:srgbClr val="141414"/>
                </a:solidFill>
                <a:latin typeface="Microsoft YaHei"/>
              </a:defRPr>
            </a:pPr>
            <a:r>
              <a:rPr sz="1100"/>
              <a:t>System Architecture of Vitis HLS Based LeNet Accelerator on Zynq-7020</a:t>
            </a:r>
          </a:p>
        </p:txBody>
      </p:sp>
      <p:sp>
        <p:nvSpPr>
          <p:cNvPr id="5" name="Rectangle 4"/>
          <p:cNvSpPr/>
          <p:nvPr/>
        </p:nvSpPr>
        <p:spPr>
          <a:xfrm>
            <a:off x="382313" y="2100221"/>
            <a:ext cx="2182367" cy="3639311"/>
          </a:xfrm>
          <a:prstGeom prst="rect">
            <a:avLst/>
          </a:prstGeom>
          <a:solidFill>
            <a:srgbClr val="F5FAF6"/>
          </a:solidFill>
          <a:ln w="19050">
            <a:solidFill>
              <a:srgbClr val="558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Rectangle 5"/>
          <p:cNvSpPr/>
          <p:nvPr/>
        </p:nvSpPr>
        <p:spPr>
          <a:xfrm>
            <a:off x="2971800" y="914400"/>
            <a:ext cx="2514600" cy="5166360"/>
          </a:xfrm>
          <a:prstGeom prst="rect">
            <a:avLst/>
          </a:prstGeom>
          <a:solidFill>
            <a:srgbClr val="F4F9FD"/>
          </a:solidFill>
          <a:ln w="19050">
            <a:solidFill>
              <a:srgbClr val="4E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Rectangle 6"/>
          <p:cNvSpPr/>
          <p:nvPr/>
        </p:nvSpPr>
        <p:spPr>
          <a:xfrm>
            <a:off x="6013240" y="914400"/>
            <a:ext cx="5584401" cy="5166360"/>
          </a:xfrm>
          <a:prstGeom prst="rect">
            <a:avLst/>
          </a:prstGeom>
          <a:solidFill>
            <a:srgbClr val="F9F5FC"/>
          </a:solidFill>
          <a:ln w="19050">
            <a:solidFill>
              <a:srgbClr val="8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Rectangle 7"/>
          <p:cNvSpPr/>
          <p:nvPr/>
        </p:nvSpPr>
        <p:spPr>
          <a:xfrm>
            <a:off x="415841" y="2209949"/>
            <a:ext cx="2112263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558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1200" b="1">
                <a:solidFill>
                  <a:srgbClr val="141414"/>
                </a:solidFill>
                <a:latin typeface="Microsoft YaHei"/>
              </a:defRPr>
            </a:pPr>
            <a:r>
              <a:rPr dirty="0"/>
              <a:t>External Memory</a:t>
            </a:r>
          </a:p>
          <a:p>
            <a:pPr algn="ctr">
              <a:defRPr sz="1100" b="1">
                <a:solidFill>
                  <a:srgbClr val="141414"/>
                </a:solidFill>
                <a:latin typeface="Microsoft YaHei"/>
              </a:defRPr>
            </a:pPr>
            <a:r>
              <a:rPr sz="1600" dirty="0"/>
              <a:t>(DDR)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024128"/>
            <a:ext cx="2295144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4E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1200" b="1">
                <a:solidFill>
                  <a:srgbClr val="141414"/>
                </a:solidFill>
                <a:latin typeface="Microsoft YaHei"/>
              </a:defRPr>
            </a:pPr>
            <a:r>
              <a:t>Processor System</a:t>
            </a:r>
          </a:p>
          <a:p>
            <a:pPr algn="ctr">
              <a:defRPr sz="1100" b="1">
                <a:solidFill>
                  <a:srgbClr val="141414"/>
                </a:solidFill>
                <a:latin typeface="Microsoft YaHei"/>
              </a:defRPr>
            </a:pPr>
            <a:r>
              <a:rPr sz="1600"/>
              <a:t>(PS)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18839" y="975777"/>
            <a:ext cx="5368689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8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1200" b="1">
                <a:solidFill>
                  <a:srgbClr val="141414"/>
                </a:solidFill>
                <a:latin typeface="Microsoft YaHei"/>
              </a:defRPr>
            </a:pPr>
            <a:r>
              <a:rPr dirty="0"/>
              <a:t>Programmable Logic</a:t>
            </a:r>
          </a:p>
          <a:p>
            <a:pPr algn="ctr">
              <a:defRPr sz="1100" b="1">
                <a:solidFill>
                  <a:srgbClr val="141414"/>
                </a:solidFill>
                <a:latin typeface="Microsoft YaHei"/>
              </a:defRPr>
            </a:pPr>
            <a:r>
              <a:rPr sz="1600" dirty="0"/>
              <a:t>(PL)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674" y="935120"/>
            <a:ext cx="2112263" cy="770995"/>
          </a:xfrm>
          <a:prstGeom prst="rect">
            <a:avLst/>
          </a:prstGeom>
          <a:solidFill>
            <a:srgbClr val="FFFFFF"/>
          </a:solidFill>
          <a:ln w="7620">
            <a:solidFill>
              <a:srgbClr val="558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600" b="0">
                <a:solidFill>
                  <a:srgbClr val="141414"/>
                </a:solidFill>
                <a:latin typeface="Microsoft YaHei"/>
              </a:defRPr>
            </a:pPr>
            <a:r>
              <a:rPr lang="en-US" sz="1200" b="1" dirty="0"/>
              <a:t>Offline Model &amp; Verification Data</a:t>
            </a:r>
            <a:br>
              <a:rPr lang="en-US" sz="1200" b="1" dirty="0"/>
            </a:br>
            <a:r>
              <a:rPr lang="en-US" sz="1200" dirty="0"/>
              <a:t>MNIST / Weights / Golden Reference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432" y="2831741"/>
            <a:ext cx="1783079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558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00" b="0">
                <a:solidFill>
                  <a:srgbClr val="141414"/>
                </a:solidFill>
                <a:latin typeface="Microsoft YaHei"/>
              </a:defRPr>
            </a:pPr>
            <a:r>
              <a:rPr lang="en-US" sz="1100" dirty="0"/>
              <a:t>Input Image / </a:t>
            </a:r>
            <a:r>
              <a:rPr lang="en-US" sz="1100" dirty="0" err="1"/>
              <a:t>feature_in</a:t>
            </a:r>
            <a:endParaRPr lang="en-US" sz="1050" dirty="0"/>
          </a:p>
        </p:txBody>
      </p:sp>
      <p:sp>
        <p:nvSpPr>
          <p:cNvPr id="13" name="Rectangle 12"/>
          <p:cNvSpPr/>
          <p:nvPr/>
        </p:nvSpPr>
        <p:spPr>
          <a:xfrm>
            <a:off x="580432" y="3544973"/>
            <a:ext cx="1783079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558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00" b="0">
                <a:solidFill>
                  <a:srgbClr val="141414"/>
                </a:solidFill>
                <a:latin typeface="Microsoft YaHei"/>
              </a:defRPr>
            </a:pPr>
            <a:r>
              <a:rPr lang="en-US" sz="1100" dirty="0"/>
              <a:t>Weights</a:t>
            </a:r>
            <a:endParaRPr sz="1050" dirty="0"/>
          </a:p>
        </p:txBody>
      </p:sp>
      <p:sp>
        <p:nvSpPr>
          <p:cNvPr id="14" name="Rectangle 13"/>
          <p:cNvSpPr/>
          <p:nvPr/>
        </p:nvSpPr>
        <p:spPr>
          <a:xfrm>
            <a:off x="580432" y="4258205"/>
            <a:ext cx="1783079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558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00" b="0">
                <a:solidFill>
                  <a:srgbClr val="141414"/>
                </a:solidFill>
                <a:latin typeface="Microsoft YaHei"/>
              </a:defRPr>
            </a:pPr>
            <a:r>
              <a:rPr lang="en-US" sz="1100" dirty="0"/>
              <a:t>Bias Buffer</a:t>
            </a:r>
            <a:br>
              <a:rPr lang="en-US" sz="1100" dirty="0"/>
            </a:br>
            <a:r>
              <a:rPr lang="en-US" sz="1100" dirty="0"/>
              <a:t>(Bias = 0)</a:t>
            </a:r>
            <a:endParaRPr sz="1050" dirty="0"/>
          </a:p>
        </p:txBody>
      </p:sp>
      <p:sp>
        <p:nvSpPr>
          <p:cNvPr id="15" name="Rectangle 14"/>
          <p:cNvSpPr/>
          <p:nvPr/>
        </p:nvSpPr>
        <p:spPr>
          <a:xfrm>
            <a:off x="580432" y="4971436"/>
            <a:ext cx="1783079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558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00" b="0">
                <a:solidFill>
                  <a:srgbClr val="141414"/>
                </a:solidFill>
                <a:latin typeface="Microsoft YaHei"/>
              </a:defRPr>
            </a:pPr>
            <a:r>
              <a:rPr lang="en-US" sz="1100" dirty="0"/>
              <a:t>Output Logits / </a:t>
            </a:r>
            <a:r>
              <a:rPr lang="en-US" sz="1100" dirty="0" err="1"/>
              <a:t>feature_out</a:t>
            </a:r>
            <a:endParaRPr sz="1050" dirty="0"/>
          </a:p>
        </p:txBody>
      </p:sp>
      <p:sp>
        <p:nvSpPr>
          <p:cNvPr id="17" name="Rectangle 16"/>
          <p:cNvSpPr/>
          <p:nvPr/>
        </p:nvSpPr>
        <p:spPr>
          <a:xfrm>
            <a:off x="3246120" y="1499616"/>
            <a:ext cx="19659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4E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00" b="0">
                <a:solidFill>
                  <a:srgbClr val="141414"/>
                </a:solidFill>
                <a:latin typeface="Microsoft YaHei"/>
              </a:defRPr>
            </a:pPr>
            <a:r>
              <a:rPr sz="1100"/>
              <a:t>ARM Cortex-A9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2157984"/>
            <a:ext cx="19659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4E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00" b="0">
                <a:solidFill>
                  <a:srgbClr val="141414"/>
                </a:solidFill>
                <a:latin typeface="Microsoft YaHei"/>
              </a:defRPr>
            </a:pPr>
            <a:r>
              <a:rPr sz="1100"/>
              <a:t>I/O &amp; Data</a:t>
            </a:r>
          </a:p>
          <a:p>
            <a:pPr algn="ctr">
              <a:defRPr sz="800" b="0">
                <a:solidFill>
                  <a:srgbClr val="141414"/>
                </a:solidFill>
                <a:latin typeface="Microsoft YaHei"/>
              </a:defRPr>
            </a:pPr>
            <a:r>
              <a:rPr sz="1050"/>
              <a:t>Preprocess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2816352"/>
            <a:ext cx="19659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4E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00" b="0">
                <a:solidFill>
                  <a:srgbClr val="141414"/>
                </a:solidFill>
                <a:latin typeface="Microsoft YaHei"/>
              </a:defRPr>
            </a:pPr>
            <a:r>
              <a:rPr sz="1100"/>
              <a:t>Accelerator</a:t>
            </a:r>
          </a:p>
          <a:p>
            <a:pPr algn="ctr">
              <a:defRPr sz="800" b="0">
                <a:solidFill>
                  <a:srgbClr val="141414"/>
                </a:solidFill>
                <a:latin typeface="Microsoft YaHei"/>
              </a:defRPr>
            </a:pPr>
            <a:r>
              <a:rPr sz="1050"/>
              <a:t>Configuration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3474720"/>
            <a:ext cx="19659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4E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00" b="0">
                <a:solidFill>
                  <a:srgbClr val="141414"/>
                </a:solidFill>
                <a:latin typeface="Microsoft YaHei"/>
              </a:defRPr>
            </a:pPr>
            <a:r>
              <a:rPr sz="1100"/>
              <a:t>DMA</a:t>
            </a:r>
          </a:p>
          <a:p>
            <a:pPr algn="ctr">
              <a:defRPr sz="800" b="0">
                <a:solidFill>
                  <a:srgbClr val="141414"/>
                </a:solidFill>
                <a:latin typeface="Microsoft YaHei"/>
              </a:defRPr>
            </a:pPr>
            <a:r>
              <a:rPr sz="1050"/>
              <a:t>Management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4133087"/>
            <a:ext cx="19659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4E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00" b="0">
                <a:solidFill>
                  <a:srgbClr val="141414"/>
                </a:solidFill>
                <a:latin typeface="Microsoft YaHei"/>
              </a:defRPr>
            </a:pPr>
            <a:r>
              <a:rPr sz="1100"/>
              <a:t>Memory</a:t>
            </a:r>
          </a:p>
          <a:p>
            <a:pPr algn="ctr">
              <a:defRPr sz="800" b="0">
                <a:solidFill>
                  <a:srgbClr val="141414"/>
                </a:solidFill>
                <a:latin typeface="Microsoft YaHei"/>
              </a:defRPr>
            </a:pPr>
            <a:r>
              <a:rPr sz="1050"/>
              <a:t>Controller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4791455"/>
            <a:ext cx="19659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4E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00" b="0">
                <a:solidFill>
                  <a:srgbClr val="141414"/>
                </a:solidFill>
                <a:latin typeface="Microsoft YaHei"/>
              </a:defRPr>
            </a:pPr>
            <a:r>
              <a:rPr sz="1100"/>
              <a:t>AXI</a:t>
            </a:r>
          </a:p>
          <a:p>
            <a:pPr algn="ctr">
              <a:defRPr sz="800" b="0">
                <a:solidFill>
                  <a:srgbClr val="141414"/>
                </a:solidFill>
                <a:latin typeface="Microsoft YaHei"/>
              </a:defRPr>
            </a:pPr>
            <a:r>
              <a:rPr sz="1050"/>
              <a:t>Interconnect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6771" y="1463039"/>
            <a:ext cx="5168992" cy="4479983"/>
          </a:xfrm>
          <a:prstGeom prst="rect">
            <a:avLst/>
          </a:prstGeom>
          <a:solidFill>
            <a:srgbClr val="FFFFFF"/>
          </a:solidFill>
          <a:ln w="13970">
            <a:solidFill>
              <a:srgbClr val="8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Rectangle 23"/>
          <p:cNvSpPr/>
          <p:nvPr/>
        </p:nvSpPr>
        <p:spPr>
          <a:xfrm>
            <a:off x="6355079" y="1652431"/>
            <a:ext cx="4837176" cy="425687"/>
          </a:xfrm>
          <a:prstGeom prst="rect">
            <a:avLst/>
          </a:prstGeom>
          <a:solidFill>
            <a:srgbClr val="F9F5FC"/>
          </a:solidFill>
          <a:ln w="10160">
            <a:solidFill>
              <a:srgbClr val="8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1000" b="1">
                <a:solidFill>
                  <a:srgbClr val="141414"/>
                </a:solidFill>
                <a:latin typeface="Microsoft YaHei"/>
              </a:defRPr>
            </a:pPr>
            <a:r>
              <a:rPr sz="1200" dirty="0"/>
              <a:t>CNN Accelerator IP  (Vitis HLS Generated)    </a:t>
            </a:r>
            <a:br>
              <a:rPr lang="en-US" sz="1200" dirty="0"/>
            </a:br>
            <a:r>
              <a:rPr sz="1200" dirty="0"/>
              <a:t> HLS top: </a:t>
            </a:r>
            <a:r>
              <a:rPr sz="1200" dirty="0" err="1"/>
              <a:t>lenet_full_top</a:t>
            </a:r>
            <a:endParaRPr sz="1200" dirty="0"/>
          </a:p>
        </p:txBody>
      </p:sp>
      <p:sp>
        <p:nvSpPr>
          <p:cNvPr id="25" name="Rectangle 24"/>
          <p:cNvSpPr/>
          <p:nvPr/>
        </p:nvSpPr>
        <p:spPr>
          <a:xfrm>
            <a:off x="8182818" y="2151020"/>
            <a:ext cx="1554480" cy="384048"/>
          </a:xfrm>
          <a:prstGeom prst="rect">
            <a:avLst/>
          </a:prstGeom>
          <a:solidFill>
            <a:srgbClr val="F0F5FA"/>
          </a:solidFill>
          <a:ln w="1016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00" b="1">
                <a:solidFill>
                  <a:srgbClr val="141414"/>
                </a:solidFill>
                <a:latin typeface="Microsoft YaHei"/>
              </a:defRPr>
            </a:pPr>
            <a:r>
              <a:rPr sz="1100"/>
              <a:t>Input Buffer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75390" y="2844884"/>
            <a:ext cx="1143000" cy="1115568"/>
          </a:xfrm>
          <a:prstGeom prst="rect">
            <a:avLst/>
          </a:prstGeom>
          <a:solidFill>
            <a:srgbClr val="F4F9FD"/>
          </a:solidFill>
          <a:ln w="10160">
            <a:solidFill>
              <a:srgbClr val="4E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00" b="1">
                <a:solidFill>
                  <a:srgbClr val="141414"/>
                </a:solidFill>
                <a:latin typeface="Microsoft YaHei"/>
              </a:defRPr>
            </a:pPr>
            <a:r>
              <a:rPr sz="1000"/>
              <a:t>Controller</a:t>
            </a:r>
          </a:p>
          <a:p>
            <a:pPr algn="ctr">
              <a:defRPr sz="600" b="1">
                <a:solidFill>
                  <a:srgbClr val="141414"/>
                </a:solidFill>
                <a:latin typeface="Microsoft YaHei"/>
              </a:defRPr>
            </a:pPr>
            <a:r>
              <a:rPr sz="900"/>
              <a:t>ap_ctrl_hs</a:t>
            </a:r>
          </a:p>
          <a:p>
            <a:pPr algn="ctr">
              <a:defRPr sz="600" b="1">
                <a:solidFill>
                  <a:srgbClr val="141414"/>
                </a:solidFill>
                <a:latin typeface="Microsoft YaHei"/>
              </a:defRPr>
            </a:pPr>
            <a:r>
              <a:rPr sz="900"/>
              <a:t>ap_start</a:t>
            </a:r>
          </a:p>
          <a:p>
            <a:pPr algn="ctr">
              <a:defRPr sz="600" b="1">
                <a:solidFill>
                  <a:srgbClr val="141414"/>
                </a:solidFill>
                <a:latin typeface="Microsoft YaHei"/>
              </a:defRPr>
            </a:pPr>
            <a:r>
              <a:rPr sz="900"/>
              <a:t>ap_done</a:t>
            </a:r>
          </a:p>
          <a:p>
            <a:pPr algn="ctr">
              <a:defRPr sz="600" b="1">
                <a:solidFill>
                  <a:srgbClr val="141414"/>
                </a:solidFill>
                <a:latin typeface="Microsoft YaHei"/>
              </a:defRPr>
            </a:pPr>
            <a:r>
              <a:rPr sz="900"/>
              <a:t>ap_idle/ready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68306" y="2689584"/>
            <a:ext cx="2783286" cy="2502751"/>
          </a:xfrm>
          <a:prstGeom prst="rect">
            <a:avLst/>
          </a:prstGeom>
          <a:solidFill>
            <a:srgbClr val="FDFDFD"/>
          </a:solidFill>
          <a:ln w="12700">
            <a:solidFill>
              <a:srgbClr val="14141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" name="TextBox 27"/>
          <p:cNvSpPr txBox="1"/>
          <p:nvPr/>
        </p:nvSpPr>
        <p:spPr>
          <a:xfrm>
            <a:off x="7754112" y="2781887"/>
            <a:ext cx="2606040" cy="203133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1000" b="1">
                <a:solidFill>
                  <a:srgbClr val="141414"/>
                </a:solidFill>
                <a:latin typeface="Microsoft YaHei"/>
              </a:defRPr>
            </a:pPr>
            <a:r>
              <a:rPr sz="1200" dirty="0"/>
              <a:t>Computing Module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21322" y="3349466"/>
            <a:ext cx="1222317" cy="256032"/>
          </a:xfrm>
          <a:prstGeom prst="rect">
            <a:avLst/>
          </a:prstGeom>
          <a:solidFill>
            <a:srgbClr val="E1F4E2"/>
          </a:solidFill>
          <a:ln w="762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600" b="1">
                <a:solidFill>
                  <a:srgbClr val="141414"/>
                </a:solidFill>
                <a:latin typeface="Microsoft YaHei"/>
              </a:defRPr>
            </a:pPr>
            <a:r>
              <a:rPr sz="900" dirty="0"/>
              <a:t>Window</a:t>
            </a:r>
            <a:r>
              <a:rPr lang="en-US" sz="900" dirty="0"/>
              <a:t> </a:t>
            </a:r>
            <a:r>
              <a:rPr sz="900" dirty="0"/>
              <a:t>Generator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21321" y="3738961"/>
            <a:ext cx="1222317" cy="256032"/>
          </a:xfrm>
          <a:prstGeom prst="rect">
            <a:avLst/>
          </a:prstGeom>
          <a:solidFill>
            <a:srgbClr val="E1F4E2"/>
          </a:solidFill>
          <a:ln w="762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600" b="1">
                <a:solidFill>
                  <a:srgbClr val="141414"/>
                </a:solidFill>
                <a:latin typeface="Microsoft YaHei"/>
              </a:defRPr>
            </a:pPr>
            <a:r>
              <a:rPr sz="900" dirty="0"/>
              <a:t>PE Array/ MAC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28236" y="4124094"/>
            <a:ext cx="1222317" cy="256032"/>
          </a:xfrm>
          <a:prstGeom prst="rect">
            <a:avLst/>
          </a:prstGeom>
          <a:solidFill>
            <a:srgbClr val="E1F4E2"/>
          </a:solidFill>
          <a:ln w="762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600" b="1">
                <a:solidFill>
                  <a:srgbClr val="141414"/>
                </a:solidFill>
                <a:latin typeface="Microsoft YaHei"/>
              </a:defRPr>
            </a:pPr>
            <a:r>
              <a:rPr sz="900" dirty="0"/>
              <a:t>Accumulator</a:t>
            </a:r>
            <a:br>
              <a:rPr lang="en-US" sz="900" dirty="0"/>
            </a:br>
            <a:r>
              <a:rPr sz="900" dirty="0"/>
              <a:t>+ </a:t>
            </a:r>
            <a:r>
              <a:rPr sz="900" dirty="0" err="1"/>
              <a:t>ReLU</a:t>
            </a:r>
            <a:endParaRPr sz="900" dirty="0"/>
          </a:p>
        </p:txBody>
      </p:sp>
      <p:sp>
        <p:nvSpPr>
          <p:cNvPr id="32" name="Rectangle 31"/>
          <p:cNvSpPr/>
          <p:nvPr/>
        </p:nvSpPr>
        <p:spPr>
          <a:xfrm>
            <a:off x="9165959" y="3349299"/>
            <a:ext cx="1179990" cy="256032"/>
          </a:xfrm>
          <a:prstGeom prst="rect">
            <a:avLst/>
          </a:prstGeom>
          <a:solidFill>
            <a:srgbClr val="E1F4E2"/>
          </a:solidFill>
          <a:ln w="762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600" b="1">
                <a:solidFill>
                  <a:srgbClr val="141414"/>
                </a:solidFill>
                <a:latin typeface="Microsoft YaHei"/>
              </a:defRPr>
            </a:pPr>
            <a:r>
              <a:rPr sz="900" dirty="0"/>
              <a:t>Conv1 → Pool1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68132" y="3747863"/>
            <a:ext cx="1179990" cy="256032"/>
          </a:xfrm>
          <a:prstGeom prst="rect">
            <a:avLst/>
          </a:prstGeom>
          <a:solidFill>
            <a:srgbClr val="E1F4E2"/>
          </a:solidFill>
          <a:ln w="762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600" b="1">
                <a:solidFill>
                  <a:srgbClr val="141414"/>
                </a:solidFill>
                <a:latin typeface="Microsoft YaHei"/>
              </a:defRPr>
            </a:pPr>
            <a:r>
              <a:rPr sz="900" dirty="0"/>
              <a:t>Conv2 → Pool2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26269" y="4478444"/>
            <a:ext cx="1222317" cy="256032"/>
          </a:xfrm>
          <a:prstGeom prst="rect">
            <a:avLst/>
          </a:prstGeom>
          <a:solidFill>
            <a:srgbClr val="F0F5FA"/>
          </a:solidFill>
          <a:ln w="762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600" b="1">
                <a:solidFill>
                  <a:srgbClr val="141414"/>
                </a:solidFill>
                <a:latin typeface="Microsoft YaHei"/>
              </a:defRPr>
            </a:pPr>
            <a:r>
              <a:rPr sz="900" dirty="0"/>
              <a:t>Feature</a:t>
            </a:r>
            <a:r>
              <a:rPr lang="en-US" sz="900" dirty="0"/>
              <a:t> </a:t>
            </a:r>
            <a:r>
              <a:rPr sz="900" dirty="0"/>
              <a:t>Buffer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26269" y="4831230"/>
            <a:ext cx="1222317" cy="256032"/>
          </a:xfrm>
          <a:prstGeom prst="rect">
            <a:avLst/>
          </a:prstGeom>
          <a:solidFill>
            <a:srgbClr val="F0F5FA"/>
          </a:solidFill>
          <a:ln w="762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600" b="1">
                <a:solidFill>
                  <a:srgbClr val="141414"/>
                </a:solidFill>
                <a:latin typeface="Microsoft YaHei"/>
              </a:defRPr>
            </a:pPr>
            <a:r>
              <a:rPr sz="900" dirty="0"/>
              <a:t>Weight</a:t>
            </a:r>
            <a:r>
              <a:rPr lang="en-US" sz="900" dirty="0"/>
              <a:t> </a:t>
            </a:r>
            <a:r>
              <a:rPr sz="900" dirty="0"/>
              <a:t>Buffer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68132" y="4125537"/>
            <a:ext cx="1179990" cy="256032"/>
          </a:xfrm>
          <a:prstGeom prst="rect">
            <a:avLst/>
          </a:prstGeom>
          <a:solidFill>
            <a:srgbClr val="E1F4E2"/>
          </a:solidFill>
          <a:ln w="762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600" b="1">
                <a:solidFill>
                  <a:srgbClr val="141414"/>
                </a:solidFill>
                <a:latin typeface="Microsoft YaHei"/>
              </a:defRPr>
            </a:pPr>
            <a:r>
              <a:rPr sz="900"/>
              <a:t>Conv3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65218" y="4481253"/>
            <a:ext cx="1179990" cy="256032"/>
          </a:xfrm>
          <a:prstGeom prst="rect">
            <a:avLst/>
          </a:prstGeom>
          <a:solidFill>
            <a:srgbClr val="E1F4E2"/>
          </a:solidFill>
          <a:ln w="762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600" b="1">
                <a:solidFill>
                  <a:srgbClr val="141414"/>
                </a:solidFill>
                <a:latin typeface="Microsoft YaHei"/>
              </a:defRPr>
            </a:pPr>
            <a:r>
              <a:rPr sz="900"/>
              <a:t>FC1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68132" y="4831230"/>
            <a:ext cx="1179990" cy="256032"/>
          </a:xfrm>
          <a:prstGeom prst="rect">
            <a:avLst/>
          </a:prstGeom>
          <a:solidFill>
            <a:srgbClr val="E1F4E2"/>
          </a:solidFill>
          <a:ln w="762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600" b="1">
                <a:solidFill>
                  <a:srgbClr val="141414"/>
                </a:solidFill>
                <a:latin typeface="Microsoft YaHei"/>
              </a:defRPr>
            </a:pPr>
            <a:r>
              <a:rPr sz="900" dirty="0"/>
              <a:t>FC2</a:t>
            </a:r>
            <a:r>
              <a:rPr lang="en-US" sz="900" dirty="0"/>
              <a:t> </a:t>
            </a:r>
            <a:r>
              <a:rPr sz="900" dirty="0"/>
              <a:t>Classifier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03096" y="5464488"/>
            <a:ext cx="1554480" cy="384048"/>
          </a:xfrm>
          <a:prstGeom prst="rect">
            <a:avLst/>
          </a:prstGeom>
          <a:solidFill>
            <a:srgbClr val="F0F5FA"/>
          </a:solidFill>
          <a:ln w="1016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00" b="1">
                <a:solidFill>
                  <a:srgbClr val="141414"/>
                </a:solidFill>
                <a:latin typeface="Microsoft YaHei"/>
              </a:defRPr>
            </a:pPr>
            <a:r>
              <a:rPr sz="1100" dirty="0"/>
              <a:t>Output Buffer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80192" y="2542032"/>
            <a:ext cx="566928" cy="1143000"/>
          </a:xfrm>
          <a:prstGeom prst="rect">
            <a:avLst/>
          </a:prstGeom>
          <a:solidFill>
            <a:srgbClr val="F5F5F5"/>
          </a:solidFill>
          <a:ln w="1016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00" b="1">
                <a:solidFill>
                  <a:srgbClr val="141414"/>
                </a:solidFill>
                <a:latin typeface="Microsoft YaHei"/>
              </a:defRPr>
            </a:pPr>
            <a:r>
              <a:rPr sz="1000"/>
              <a:t>AXI4</a:t>
            </a:r>
          </a:p>
          <a:p>
            <a:pPr algn="ctr">
              <a:defRPr sz="600" b="1">
                <a:solidFill>
                  <a:srgbClr val="141414"/>
                </a:solidFill>
                <a:latin typeface="Microsoft YaHei"/>
              </a:defRPr>
            </a:pPr>
            <a:r>
              <a:rPr sz="900"/>
              <a:t>Master</a:t>
            </a:r>
          </a:p>
          <a:p>
            <a:pPr algn="ctr">
              <a:defRPr sz="600" b="1">
                <a:solidFill>
                  <a:srgbClr val="141414"/>
                </a:solidFill>
                <a:latin typeface="Microsoft YaHei"/>
              </a:defRPr>
            </a:pPr>
            <a:r>
              <a:rPr sz="900"/>
              <a:t>Ports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80192" y="3931920"/>
            <a:ext cx="566928" cy="1024128"/>
          </a:xfrm>
          <a:prstGeom prst="rect">
            <a:avLst/>
          </a:prstGeom>
          <a:solidFill>
            <a:srgbClr val="F5F5F5"/>
          </a:solidFill>
          <a:ln w="1016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00" b="1">
                <a:solidFill>
                  <a:srgbClr val="141414"/>
                </a:solidFill>
                <a:latin typeface="Microsoft YaHei"/>
              </a:defRPr>
            </a:pPr>
            <a:r>
              <a:rPr lang="en-US" sz="800"/>
              <a:t>Control Interface</a:t>
            </a:r>
            <a:br>
              <a:rPr lang="en-US" sz="800"/>
            </a:br>
            <a:endParaRPr lang="en-US" sz="800" dirty="0"/>
          </a:p>
        </p:txBody>
      </p:sp>
      <p:sp>
        <p:nvSpPr>
          <p:cNvPr id="43" name="TextBox 42"/>
          <p:cNvSpPr txBox="1"/>
          <p:nvPr/>
        </p:nvSpPr>
        <p:spPr>
          <a:xfrm>
            <a:off x="10365663" y="4997887"/>
            <a:ext cx="1170432" cy="43396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600" b="0">
                <a:solidFill>
                  <a:srgbClr val="141414"/>
                </a:solidFill>
                <a:latin typeface="Microsoft YaHei"/>
              </a:defRPr>
            </a:pPr>
            <a:r>
              <a:rPr sz="900" dirty="0" err="1"/>
              <a:t>feature_in</a:t>
            </a:r>
            <a:endParaRPr sz="900" dirty="0"/>
          </a:p>
          <a:p>
            <a:pPr algn="ctr">
              <a:defRPr sz="600" b="0">
                <a:solidFill>
                  <a:srgbClr val="141414"/>
                </a:solidFill>
                <a:latin typeface="Microsoft YaHei"/>
              </a:defRPr>
            </a:pPr>
            <a:r>
              <a:rPr sz="900" dirty="0"/>
              <a:t>weight / bias</a:t>
            </a:r>
          </a:p>
          <a:p>
            <a:pPr algn="ctr">
              <a:defRPr sz="600" b="0">
                <a:solidFill>
                  <a:srgbClr val="141414"/>
                </a:solidFill>
                <a:latin typeface="Microsoft YaHei"/>
              </a:defRPr>
            </a:pPr>
            <a:r>
              <a:rPr sz="900" dirty="0" err="1"/>
              <a:t>feature_out</a:t>
            </a:r>
            <a:endParaRPr sz="900" dirty="0"/>
          </a:p>
        </p:txBody>
      </p:sp>
      <p:cxnSp>
        <p:nvCxnSpPr>
          <p:cNvPr id="44" name="Connector 43"/>
          <p:cNvCxnSpPr>
            <a:cxnSpLocks/>
          </p:cNvCxnSpPr>
          <p:nvPr/>
        </p:nvCxnSpPr>
        <p:spPr>
          <a:xfrm>
            <a:off x="2578607" y="3383280"/>
            <a:ext cx="393193" cy="0"/>
          </a:xfrm>
          <a:prstGeom prst="line">
            <a:avLst/>
          </a:prstGeom>
          <a:ln w="20320">
            <a:solidFill>
              <a:srgbClr val="205D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569462" y="3150798"/>
            <a:ext cx="457201" cy="17235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00" b="1">
                <a:solidFill>
                  <a:srgbClr val="141414"/>
                </a:solidFill>
                <a:latin typeface="Microsoft YaHei"/>
              </a:defRPr>
            </a:pPr>
            <a:r>
              <a:rPr sz="1000" dirty="0"/>
              <a:t>Data</a:t>
            </a:r>
          </a:p>
        </p:txBody>
      </p:sp>
      <p:cxnSp>
        <p:nvCxnSpPr>
          <p:cNvPr id="46" name="Connector 45"/>
          <p:cNvCxnSpPr>
            <a:cxnSpLocks/>
          </p:cNvCxnSpPr>
          <p:nvPr/>
        </p:nvCxnSpPr>
        <p:spPr>
          <a:xfrm>
            <a:off x="5486400" y="2907792"/>
            <a:ext cx="526840" cy="0"/>
          </a:xfrm>
          <a:prstGeom prst="line">
            <a:avLst/>
          </a:prstGeom>
          <a:ln w="20320">
            <a:solidFill>
              <a:srgbClr val="205D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481827" y="2397084"/>
            <a:ext cx="466345" cy="43396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600" b="1">
                <a:solidFill>
                  <a:srgbClr val="141414"/>
                </a:solidFill>
                <a:latin typeface="Microsoft YaHei"/>
              </a:defRPr>
            </a:pPr>
            <a:r>
              <a:rPr lang="en-US" sz="900" dirty="0"/>
              <a:t>AXI4 Master Data</a:t>
            </a:r>
          </a:p>
        </p:txBody>
      </p:sp>
      <p:cxnSp>
        <p:nvCxnSpPr>
          <p:cNvPr id="48" name="Connector 47"/>
          <p:cNvCxnSpPr>
            <a:cxnSpLocks/>
          </p:cNvCxnSpPr>
          <p:nvPr/>
        </p:nvCxnSpPr>
        <p:spPr>
          <a:xfrm>
            <a:off x="5486400" y="3913632"/>
            <a:ext cx="526840" cy="0"/>
          </a:xfrm>
          <a:prstGeom prst="line">
            <a:avLst/>
          </a:prstGeom>
          <a:ln w="15240">
            <a:solidFill>
              <a:srgbClr val="CE7C30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468113" y="4016223"/>
            <a:ext cx="577132" cy="43396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600" b="1">
                <a:solidFill>
                  <a:srgbClr val="141414"/>
                </a:solidFill>
                <a:latin typeface="Microsoft YaHei"/>
              </a:defRPr>
            </a:pPr>
            <a:r>
              <a:rPr lang="en-US" sz="900" dirty="0"/>
              <a:t>Control / </a:t>
            </a:r>
            <a:r>
              <a:rPr lang="en-US" sz="900" dirty="0" err="1"/>
              <a:t>ap_ctrl_hs</a:t>
            </a:r>
            <a:endParaRPr lang="en-US" sz="900" dirty="0"/>
          </a:p>
        </p:txBody>
      </p:sp>
      <p:cxnSp>
        <p:nvCxnSpPr>
          <p:cNvPr id="50" name="Connector 49"/>
          <p:cNvCxnSpPr/>
          <p:nvPr/>
        </p:nvCxnSpPr>
        <p:spPr>
          <a:xfrm>
            <a:off x="8967083" y="2548277"/>
            <a:ext cx="0" cy="164592"/>
          </a:xfrm>
          <a:prstGeom prst="line">
            <a:avLst/>
          </a:prstGeom>
          <a:ln w="13970">
            <a:solidFill>
              <a:srgbClr val="205D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>
            <a:cxnSpLocks/>
          </p:cNvCxnSpPr>
          <p:nvPr/>
        </p:nvCxnSpPr>
        <p:spPr>
          <a:xfrm>
            <a:off x="9076589" y="5200698"/>
            <a:ext cx="0" cy="263790"/>
          </a:xfrm>
          <a:prstGeom prst="line">
            <a:avLst/>
          </a:prstGeom>
          <a:ln w="13970">
            <a:solidFill>
              <a:srgbClr val="205D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418390" y="3411812"/>
            <a:ext cx="256033" cy="0"/>
          </a:xfrm>
          <a:prstGeom prst="line">
            <a:avLst/>
          </a:prstGeom>
          <a:ln w="13970">
            <a:solidFill>
              <a:srgbClr val="CE7C30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451592" y="3831336"/>
            <a:ext cx="228600" cy="0"/>
          </a:xfrm>
          <a:prstGeom prst="line">
            <a:avLst/>
          </a:prstGeom>
          <a:ln w="12700">
            <a:solidFill>
              <a:srgbClr val="205D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>
            <a:cxnSpLocks/>
          </p:cNvCxnSpPr>
          <p:nvPr/>
        </p:nvCxnSpPr>
        <p:spPr>
          <a:xfrm>
            <a:off x="11576303" y="4997887"/>
            <a:ext cx="407787" cy="0"/>
          </a:xfrm>
          <a:prstGeom prst="line">
            <a:avLst/>
          </a:prstGeom>
          <a:ln w="17780"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1414959" y="4581144"/>
            <a:ext cx="822960" cy="326243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00" b="1">
                <a:solidFill>
                  <a:srgbClr val="141414"/>
                </a:solidFill>
                <a:latin typeface="Microsoft YaHei"/>
              </a:defRPr>
            </a:pPr>
            <a:r>
              <a:rPr sz="1000" dirty="0"/>
              <a:t>Result </a:t>
            </a:r>
            <a:br>
              <a:rPr lang="en-US" sz="1000" dirty="0"/>
            </a:br>
            <a:r>
              <a:rPr sz="1000" dirty="0"/>
              <a:t>0–9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6291072"/>
            <a:ext cx="11475720" cy="329184"/>
          </a:xfrm>
          <a:prstGeom prst="rect">
            <a:avLst/>
          </a:prstGeom>
          <a:solidFill>
            <a:srgbClr val="FCFCFC"/>
          </a:solidFill>
          <a:ln w="7620">
            <a:solidFill>
              <a:srgbClr val="B9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8" name="TextBox 57"/>
          <p:cNvSpPr txBox="1"/>
          <p:nvPr/>
        </p:nvSpPr>
        <p:spPr>
          <a:xfrm>
            <a:off x="502920" y="6351199"/>
            <a:ext cx="11109960" cy="17235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700" b="0">
                <a:solidFill>
                  <a:srgbClr val="141414"/>
                </a:solidFill>
                <a:latin typeface="Microsoft YaHei"/>
              </a:defRPr>
            </a:pPr>
            <a:r>
              <a:rPr sz="1000"/>
              <a:t>Solid blue line: Data Path    |    Dashed orange line: Control Path    |    AXI4 Master: feature_in / weight / bias / feature_out    |    Target: XC7Z020 / 100 MHz</a:t>
            </a:r>
          </a:p>
        </p:txBody>
      </p:sp>
      <p:cxnSp>
        <p:nvCxnSpPr>
          <p:cNvPr id="67" name="Connector 43">
            <a:extLst>
              <a:ext uri="{FF2B5EF4-FFF2-40B4-BE49-F238E27FC236}">
                <a16:creationId xmlns:a16="http://schemas.microsoft.com/office/drawing/2014/main" id="{67AC208B-3CD2-4947-9F3B-B96FA9BF7B7E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1479806" y="1706115"/>
            <a:ext cx="0" cy="372003"/>
          </a:xfrm>
          <a:prstGeom prst="line">
            <a:avLst/>
          </a:prstGeom>
          <a:ln w="19050">
            <a:prstDash val="dash"/>
            <a:headEnd type="none" w="med" len="med"/>
            <a:tailEnd type="arrow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3" name="Rectangle 28">
            <a:extLst>
              <a:ext uri="{FF2B5EF4-FFF2-40B4-BE49-F238E27FC236}">
                <a16:creationId xmlns:a16="http://schemas.microsoft.com/office/drawing/2014/main" id="{DD780AD1-917A-4087-AFA7-E62EEE9FDB64}"/>
              </a:ext>
            </a:extLst>
          </p:cNvPr>
          <p:cNvSpPr/>
          <p:nvPr/>
        </p:nvSpPr>
        <p:spPr>
          <a:xfrm>
            <a:off x="7828236" y="3011731"/>
            <a:ext cx="1222317" cy="2560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45720" tIns="18288" rIns="45720" bIns="18288" rtlCol="0" anchor="ctr"/>
          <a:lstStyle/>
          <a:p>
            <a:pPr algn="ctr">
              <a:defRPr sz="600" b="1">
                <a:solidFill>
                  <a:srgbClr val="141414"/>
                </a:solidFill>
                <a:latin typeface="Microsoft YaHei"/>
              </a:defRPr>
            </a:pPr>
            <a:r>
              <a:rPr lang="en-US" sz="900" dirty="0"/>
              <a:t>Datapath</a:t>
            </a:r>
          </a:p>
        </p:txBody>
      </p:sp>
      <p:sp>
        <p:nvSpPr>
          <p:cNvPr id="74" name="Rectangle 28">
            <a:extLst>
              <a:ext uri="{FF2B5EF4-FFF2-40B4-BE49-F238E27FC236}">
                <a16:creationId xmlns:a16="http://schemas.microsoft.com/office/drawing/2014/main" id="{8C0DE14B-2312-4F4E-BD0B-A9F15EBD6266}"/>
              </a:ext>
            </a:extLst>
          </p:cNvPr>
          <p:cNvSpPr/>
          <p:nvPr/>
        </p:nvSpPr>
        <p:spPr>
          <a:xfrm>
            <a:off x="9164857" y="3029487"/>
            <a:ext cx="1179990" cy="25603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45720" tIns="18288" rIns="45720" bIns="18288" rtlCol="0" anchor="ctr"/>
          <a:lstStyle/>
          <a:p>
            <a:pPr algn="ctr">
              <a:defRPr sz="600" b="1">
                <a:solidFill>
                  <a:srgbClr val="141414"/>
                </a:solidFill>
                <a:latin typeface="Microsoft YaHei"/>
              </a:defRPr>
            </a:pPr>
            <a:r>
              <a:rPr lang="en-US" sz="900" dirty="0"/>
              <a:t>Layer Schedule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</TotalTime>
  <Words>210</Words>
  <Application>Microsoft Office PowerPoint</Application>
  <PresentationFormat>宽屏</PresentationFormat>
  <Paragraphs>57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夏 七</cp:lastModifiedBy>
  <cp:revision>7</cp:revision>
  <dcterms:created xsi:type="dcterms:W3CDTF">2013-01-27T09:14:16Z</dcterms:created>
  <dcterms:modified xsi:type="dcterms:W3CDTF">2026-09-03T11:40:04Z</dcterms:modified>
  <cp:category/>
</cp:coreProperties>
</file>