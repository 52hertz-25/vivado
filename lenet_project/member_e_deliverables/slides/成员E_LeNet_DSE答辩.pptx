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ba095f91214b61" /><Relationship Type="http://schemas.openxmlformats.org/officeDocument/2006/relationships/extended-properties" Target="/docProps/app.xml" Id="R8384c92add0843cf" /><Relationship Type="http://schemas.openxmlformats.org/officeDocument/2006/relationships/officeDocument" Target="/ppt/presentation.xml" Id="Rdc392d311b5e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ab6f82c0d429e"/>
  </p:sldMasterIdLst>
  <p:notesMasterIdLst>
    <p:notesMasterId xmlns:r="http://schemas.openxmlformats.org/officeDocument/2006/relationships" r:id="Rc932f9de54364e4e"/>
  </p:notesMasterIdLst>
  <p:sldIdLst>
    <p:sldId xmlns:r="http://schemas.openxmlformats.org/officeDocument/2006/relationships" id="256" r:id="R693432934cf04c7a"/>
    <p:sldId xmlns:r="http://schemas.openxmlformats.org/officeDocument/2006/relationships" id="257" r:id="Rfb70059d1c63434c"/>
    <p:sldId xmlns:r="http://schemas.openxmlformats.org/officeDocument/2006/relationships" id="258" r:id="R69fdb260894843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89cf02d0c94f7d" /><Relationship Type="http://schemas.openxmlformats.org/officeDocument/2006/relationships/slideMaster" Target="/ppt/slideMasters/slideMaster1.xml" Id="R1f8ab6f82c0d429e" /><Relationship Type="http://schemas.openxmlformats.org/officeDocument/2006/relationships/notesMaster" Target="/ppt/notesMasters/notesMaster1.xml" Id="Rc932f9de54364e4e" /><Relationship Type="http://schemas.openxmlformats.org/officeDocument/2006/relationships/presProps" Target="/ppt/presProps.xml" Id="R0d7530a32d444b18" /><Relationship Type="http://schemas.openxmlformats.org/officeDocument/2006/relationships/tableStyles" Target="/ppt/tableStyles.xml" Id="R7e465d90dbe14599" /><Relationship Type="http://schemas.openxmlformats.org/officeDocument/2006/relationships/slide" Target="/ppt/slides/slide1.xml" Id="R693432934cf04c7a" /><Relationship Type="http://schemas.openxmlformats.org/officeDocument/2006/relationships/slide" Target="/ppt/slides/slide2.xml" Id="Rfb70059d1c63434c" /><Relationship Type="http://schemas.openxmlformats.org/officeDocument/2006/relationships/slide" Target="/ppt/slides/slide3.xml" Id="R69fdb2608948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fcfc96716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6236a60e254ef4" /><Relationship Type="http://schemas.openxmlformats.org/officeDocument/2006/relationships/notesMaster" Target="/ppt/notesMasters/notesMaster1.xml" Id="R43030f32bb58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920b6fd244053" /><Relationship Type="http://schemas.openxmlformats.org/officeDocument/2006/relationships/notesMaster" Target="/ppt/notesMasters/notesMaster1.xml" Id="R5beb8b5c17fb45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127bad25bf47a1" /><Relationship Type="http://schemas.openxmlformats.org/officeDocument/2006/relationships/notesMaster" Target="/ppt/notesMasters/notesMaster1.xml" Id="R9d3673f05cf241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数据源：handoff/LeNet_DSE_Framework_2022_2 下各配置的 csynth.xml；Vivado impl_1 的 timing/utilization/power/route reports。范围只包含成员 E。讲解重点：每次只改变一个变量，结论可追溯。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来源：data/clock_dse_validated.csv、data/structural_dse_validated.csv。10 ns 的 HLS cycles 和 LUT 同时最低，且按目标周期换算的 16.479 ms 也最低。结构实验三组的 cycles/LUT/FF/BRAM/DSP 完全相同。机制解释是推断：AXI 访存、FP32 资源共享及上层调度限制了局部展开收益。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来源：source_reports/lenet_system_wrapper_timing_summary_routed.rpt、lenet_system_wrapper_utilization_placed.rpt、lenet_system_wrapper_power_routed.rpt、route_status.rpt。功耗 1.848 W 的 Confidence Level 为 Medium，未加载 Simulation Activity File；其中 PS7 约 1.530 W，不能描述为板级实测。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ca12e20e145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297e5a2a14ef8" /><Relationship Type="http://schemas.openxmlformats.org/officeDocument/2006/relationships/slideLayout" Target="/ppt/slideLayouts/slideLayout1.xml" Id="Re1c8af9fe8c1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8af9fe8c1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a0f5ef7e04407" /><Relationship Type="http://schemas.openxmlformats.org/officeDocument/2006/relationships/notesSlide" Target="/ppt/notesSlides/notesSlide1.xml" Id="Re2069b4d2224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d373025514b8c" /><Relationship Type="http://schemas.openxmlformats.org/officeDocument/2006/relationships/chart" Target="/ppt/slides/charts/chart1.xml" Id="R88ccdddb057a4e49" /><Relationship Type="http://schemas.openxmlformats.org/officeDocument/2006/relationships/chart" Target="/ppt/slides/charts/chart2.xml" Id="Rdca8ff465efe41f0" /><Relationship Type="http://schemas.openxmlformats.org/officeDocument/2006/relationships/notesSlide" Target="/ppt/notesSlides/notesSlide2.xml" Id="Re21990ab84bb4a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7e58c4c494d7e" /><Relationship Type="http://schemas.openxmlformats.org/officeDocument/2006/relationships/image" Target="/ppt/media/image.png" Id="R2757b6571ac74ec0" /><Relationship Type="http://schemas.openxmlformats.org/officeDocument/2006/relationships/notesSlide" Target="/ppt/notesSlides/notesSlide3.xml" Id="R3536d698a14b4e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目标时钟周期 vs 延迟周期（M cycles）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Latency</c:v>
          </c:tx>
          <c:spPr>
            <a:ln xmlns:a="http://schemas.openxmlformats.org/drawingml/2006/main" w="28575">
              <a:solidFill>
                <a:srgbClr val="2E679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E6797"/>
              </a:solidFill>
            </c:spPr>
          </c:marker>
          <c:dPt>
            <c:idx val="4"/>
            <c:spPr>
              <a:solidFill xmlns:a="http://schemas.openxmlformats.org/drawingml/2006/main">
                <a:srgbClr val="C99116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7 ns</c:v>
                </c:pt>
                <c:pt idx="1">
                  <c:v>7.5 ns</c:v>
                </c:pt>
                <c:pt idx="2">
                  <c:v>8 ns</c:v>
                </c:pt>
                <c:pt idx="3">
                  <c:v>9 ns</c:v>
                </c:pt>
                <c:pt idx="4">
                  <c:v>10 ns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2.847628</c:v>
                </c:pt>
                <c:pt idx="1">
                  <c:v>2.548619</c:v>
                </c:pt>
                <c:pt idx="2">
                  <c:v>2.546729</c:v>
                </c:pt>
                <c:pt idx="3">
                  <c:v>2.247712</c:v>
                </c:pt>
                <c:pt idx="4">
                  <c:v>1.647854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421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延迟—LUT Pareto（左下更优）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1"/>
        <c:ser>
          <c:idx val="0"/>
          <c:order val="0"/>
          <c:tx>
            <c:v>10 ns baseline</c:v>
          </c:tx>
          <c:spPr>
            <a:solidFill xmlns:a="http://schemas.openxmlformats.org/drawingml/2006/main">
              <a:srgbClr val="C99116"/>
            </a:solidFill>
            <a:ln xmlns:a="http://schemas.openxmlformats.org/drawingml/2006/main" w="9525">
              <a:solidFill>
                <a:srgbClr val="C99116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C99116"/>
              </a:solidFill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1.647854</c:v>
                </c:pt>
              </c:numCache>
            </c:numRef>
          </c:xVal>
          <c:yVal>
            <c:numRef>
              <c:f>'Chart Data'!$B$2:$B$2</c:f>
              <c:numCache>
                <c:formatCode>0.0</c:formatCode>
                <c:ptCount val="1"/>
                <c:pt idx="0">
                  <c:v>17.108</c:v>
                </c:pt>
              </c:numCache>
            </c:numRef>
          </c:yVal>
        </c:ser>
        <c:ser>
          <c:idx val="1"/>
          <c:order val="1"/>
          <c:tx>
            <c:v>9 ns</c:v>
          </c:tx>
          <c:spPr>
            <a:solidFill xmlns:a="http://schemas.openxmlformats.org/drawingml/2006/main">
              <a:srgbClr val="2E6797"/>
            </a:solidFill>
            <a:ln xmlns:a="http://schemas.openxmlformats.org/drawingml/2006/main" w="9525">
              <a:solidFill>
                <a:srgbClr val="2E679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E679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2.247712</c:v>
                </c:pt>
              </c:numCache>
            </c:numRef>
          </c:xVal>
          <c:yVal>
            <c:numRef>
              <c:f>'Chart Data'!$D$2:$D$2</c:f>
              <c:numCache>
                <c:formatCode>0.0</c:formatCode>
                <c:ptCount val="1"/>
                <c:pt idx="0">
                  <c:v>17.789</c:v>
                </c:pt>
              </c:numCache>
            </c:numRef>
          </c:yVal>
        </c:ser>
        <c:ser>
          <c:idx val="2"/>
          <c:order val="2"/>
          <c:tx>
            <c:v>8 ns</c:v>
          </c:tx>
          <c:spPr>
            <a:solidFill xmlns:a="http://schemas.openxmlformats.org/drawingml/2006/main">
              <a:srgbClr val="2E6797"/>
            </a:solidFill>
            <a:ln xmlns:a="http://schemas.openxmlformats.org/drawingml/2006/main" w="9525">
              <a:solidFill>
                <a:srgbClr val="2E679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E6797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2.546729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18.423</c:v>
                </c:pt>
              </c:numCache>
            </c:numRef>
          </c:yVal>
        </c:ser>
        <c:ser>
          <c:idx val="3"/>
          <c:order val="3"/>
          <c:tx>
            <c:v>7.5 ns</c:v>
          </c:tx>
          <c:spPr>
            <a:solidFill xmlns:a="http://schemas.openxmlformats.org/drawingml/2006/main">
              <a:srgbClr val="6E96B7"/>
            </a:solidFill>
            <a:ln xmlns:a="http://schemas.openxmlformats.org/drawingml/2006/main" w="9525">
              <a:solidFill>
                <a:srgbClr val="6E96B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6E96B7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2.548619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18.396</c:v>
                </c:pt>
              </c:numCache>
            </c:numRef>
          </c:yVal>
        </c:ser>
        <c:ser>
          <c:idx val="4"/>
          <c:order val="4"/>
          <c:tx>
            <c:v>7 ns</c:v>
          </c:tx>
          <c:spPr>
            <a:solidFill xmlns:a="http://schemas.openxmlformats.org/drawingml/2006/main">
              <a:srgbClr val="2E6797"/>
            </a:solidFill>
            <a:ln xmlns:a="http://schemas.openxmlformats.org/drawingml/2006/main" w="9525">
              <a:solidFill>
                <a:srgbClr val="2E679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E6797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2.847628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18.945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9.2"/>
          <c:min val="16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LUT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3"/>
          <c:min val="1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Latency (M cycles)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9A844-2562-41CA-8331-41546944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rPr>
              <a:t>MEMBER E ·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DEE8-B766-41A4-935B-01AD73E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我负责把 LeNet 的 HLS 选择做成证据链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4CA74-5BFE-4FBC-953C-EA76C04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5 组时钟约束 + 3 组结构实验 + 1 个 Vivado 最终闭环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DF546-9962-4717-A7BB-9997949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3333750"/>
                <a:gridCol w="2857500"/>
                <a:gridCol w="3238500"/>
              </a:tblGrid>
              <a:tr h="5000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实验维度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唯一变量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输出指标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 DSE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9 / 8 / 7.5 / 7 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目标时钟周期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cycles、Fmax、LUT/FF/BRAM/DSP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Structural DSE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 / Unroll ×2 / ×5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 循环展开因子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有效并行度是否改变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Vivado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ns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最终候选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post-route 时序、资源、功耗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1A23D-06B8-4D8A-8A9B-CDA119FC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381375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E3FAB-221F-46D6-976F-7E172562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79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72450-2257-4F32-AC29-C574E7A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① 原始报告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CA5EE-96F5-47B9-9985-BD6B1F9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读取每个 solution 的 csynth.xml；保存 10 ns 的 csynth.rpt/xml 和 Vivado 原始报告。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3B8AA-424D-449F-AB46-C73D0191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81375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C674-101F-4F98-9897-6069319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DD1AD-25CF-4DD7-987F-668E78E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② 自动核验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9D423-2F1A-461A-9C7D-419BE4D3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重新提取所有指标，并与已有 CSV 逐项比对；任何差异都会让脚本失败。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B9C8-F6ED-4952-9CC4-EBA4D0E6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3909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B6401-F175-4D0A-B7BB-607F69F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112E1-ADCF-4D85-85FA-D1A5C7BB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52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③ 选择与归档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65281-AD5E-4F38-B81E-000FE7FB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画 Pareto 图、解释负结果，并用 post-route 时序/资源/功耗完成闭环。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51C71-486B-442E-9849-D2A46E9B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96801-CEE6-40AE-A5B9-613FC88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成员 E · LeNet HLS / Vivado DSE · XC7Z020</a:t>
            </a:r>
          </a:p>
        </p:txBody>
      </p:sp>
    </p:spTree>
    <p:extLst>
      <p:ext uri="{BB962C8B-B14F-4D97-AF65-F5344CB8AC3E}">
        <p14:creationId xmlns:p14="http://schemas.microsoft.com/office/powerpoint/2010/main" val="712774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0B706-3807-4664-B6F9-B9F8E18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rPr>
              <a:t>RESULT · CLOCK &amp;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261CD-7670-4050-A1EC-41C7AC0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10 ns 不是频率最高，但端到端更快、LUT 更少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128AE-B057-4DD7-9ACD-F9394DFA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时钟越紧，估计 Fmax 越高；调度周期同时大幅增加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B2362-0467-4205-BCF4-3B17A522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52863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ccdddb057a4e49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5429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a8ff465efe41f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4CBB0-673E-406A-AD80-49DA234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91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C99116"/>
                </a:solidFill>
                <a:latin typeface="Microsoft YaHei"/>
                <a:ea typeface="Microsoft YaHei"/>
                <a:cs typeface="Microsoft YaHei"/>
              </a:rPr>
              <a:t>10 ns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D3386-7F43-4EFD-9B8A-5FD80E4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9 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B6A92-E13F-4623-9202-A861946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4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8 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0C159-23B6-4F5E-8BB6-418A8FF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7.5 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08690-9A62-4718-AF3A-A9836882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955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7 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B45E5-314C-4E2F-BAE0-137D6019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BF2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FA1FA-44EC-484A-ABE5-82248F49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选择 clk_10ns_baseline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F73AC-F6B0-4839-8A93-9627B73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673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91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9116"/>
                </a:solidFill>
                <a:latin typeface="Microsoft YaHei"/>
                <a:ea typeface="Microsoft YaHei"/>
                <a:cs typeface="Microsoft YaHei"/>
              </a:rPr>
              <a:t>1.648M cycles  ·  16.479 ms@10ns  ·  17,108 LUT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FE520-F770-49D5-B431-D84B8F2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00725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Unroll ×2 / ×5 与 baseline 完全相同 → 局部展开不是当前瓶颈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721D3-499F-4DDB-BF66-FD91FD8C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54EEF-96C0-4F3A-B77A-944D299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成员 E · LeNet HLS / Vivado DSE · XC7Z020</a:t>
            </a:r>
          </a:p>
        </p:txBody>
      </p:sp>
    </p:spTree>
    <p:extLst>
      <p:ext uri="{BB962C8B-B14F-4D97-AF65-F5344CB8AC3E}">
        <p14:creationId xmlns:p14="http://schemas.microsoft.com/office/powerpoint/2010/main" val="179350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51E2C-36BA-4655-BA5F-51DC748B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6797"/>
                </a:solidFill>
                <a:latin typeface="Microsoft YaHei"/>
                <a:ea typeface="Microsoft YaHei"/>
                <a:cs typeface="Microsoft YaHei"/>
              </a:rPr>
              <a:t>VIVADO POST-ROUTE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6F2DA-49F8-4E97-9F93-50CB88C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10 ns 基线已经完成实现闭环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24DF0-C55C-430F-B846-1999169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Fully Routed；setup/hold 均有正裕量，资源与功耗有原始报告可追溯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71FB4-4DEA-4974-B100-7D233E49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7b6571ac74ec0"/>
          <a:stretch xmlns:a="http://schemas.openxmlformats.org/drawingml/2006/main"/>
        </p:blipFill>
        <p:spPr>
          <a:xfrm xmlns:a="http://schemas.openxmlformats.org/drawingml/2006/main">
            <a:off x="495300" y="1611313"/>
            <a:ext cx="6667500" cy="3644900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18073-9955-4662-B4B6-05054A5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2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E5633-B25A-45CE-9A39-7AB876D0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WNS / WHS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52A29-5F09-436D-9759-28E5056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33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+0.415 / +0.028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BB0EF-64DE-4A45-9259-AB467D5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24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ns · Timing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CB233-6E40-4287-80A3-94ED904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0020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EA3E3-D1E3-4474-B035-3A075A0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14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LUT / Registers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3ED36-4BFF-4B30-B409-FB20789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33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11,612 / 17,612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C46D1-F8F5-4E4A-96E7-170BF12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24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21.83% / 16.55%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075D0-68BE-457A-A09C-0B7A0125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54252-4721-41C2-9C59-6F63096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BRAM / DSP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B798D-556C-4C98-A4EC-66EB5CD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37 /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FC67B-8DD4-4928-A7F1-BAFDF28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05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tiles / DSP48E1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E9CB8-B77E-40D9-9D53-A16FA8A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F1D02-9611-4130-A351-D77E332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95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Total On-Chip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94B97-17F5-4ECA-BB13-170EE1E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146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1.848 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529E6-3C8C-4D75-96F9-82A531CD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05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Medium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E8DE8-7F85-4B0D-B43C-D1D00848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4095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E05EA-BD19-4751-8616-818AFA87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B3CC2-DF4B-4576-B1BA-52711E25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3638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• 现有证据已满足成员 E 交付，停止无目标改码</a:t>
            </a:r>
          </a:p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• 功耗是向量无关估算，不写成板级实测</a:t>
            </a:r>
          </a:p>
          <a:p xmlns:a="http://schemas.openxmlformats.org/drawingml/2006/main">
            <a:pPr>
              <a:def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• 若教师强制要求改代码：权重缓存 + ARRAY_PARTITION + 并行 PE，再完整重跑 CSim/HLS/Vivado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2CAA78-5D83-4C8E-8EEC-BF742865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80D35-7EB2-4BEA-AB8B-E308284B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成员 E · LeNet HLS / Vivado DSE · XC7Z020</a:t>
            </a:r>
          </a:p>
        </p:txBody>
      </p:sp>
    </p:spTree>
    <p:extLst>
      <p:ext uri="{BB962C8B-B14F-4D97-AF65-F5344CB8AC3E}">
        <p14:creationId xmlns:p14="http://schemas.microsoft.com/office/powerpoint/2010/main" val="1440824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2026-09-09T01:29:00.9290000Z</dcterms:created>
  <dcterms:modified xsi:type="dcterms:W3CDTF">2026-09-09T01:29:00.9290000Z</dcterms:modified>
</coreProperties>
</file>